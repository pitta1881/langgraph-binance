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5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900" autoAdjust="0"/>
  </p:normalViewPr>
  <p:slideViewPr>
    <p:cSldViewPr snapToGrid="0" snapToObjects="1">
      <p:cViewPr varScale="1">
        <p:scale>
          <a:sx n="120" d="100"/>
          <a:sy n="120" d="100"/>
        </p:scale>
        <p:origin x="11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09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~7 min. Portada (20 s): presentarme y enunciar la idea en una frase: un agente de dominio acotado que, a diferencia de un LLM generalista, se compromete con una recomendación de inversión fundamentada en datos </a:t>
            </a:r>
            <a:r>
              <a:rPr lang="en-US" dirty="0" err="1"/>
              <a:t>reales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Crear</a:t>
            </a:r>
            <a:r>
              <a:rPr lang="en-US" dirty="0"/>
              <a:t> un </a:t>
            </a:r>
            <a:r>
              <a:rPr lang="en-US" dirty="0" err="1"/>
              <a:t>agente</a:t>
            </a:r>
            <a:r>
              <a:rPr lang="en-US" dirty="0"/>
              <a:t> que se </a:t>
            </a:r>
            <a:r>
              <a:rPr lang="en-US" dirty="0" err="1"/>
              <a:t>comprometa</a:t>
            </a:r>
            <a:r>
              <a:rPr lang="en-US" dirty="0"/>
              <a:t> con una </a:t>
            </a:r>
            <a:r>
              <a:rPr lang="en-US" dirty="0" err="1"/>
              <a:t>recomendación</a:t>
            </a:r>
            <a:r>
              <a:rPr lang="en-US" dirty="0"/>
              <a:t> de inversion, que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fundamentada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reales</a:t>
            </a:r>
            <a:r>
              <a:rPr lang="en-US" dirty="0"/>
              <a:t>, a </a:t>
            </a:r>
            <a:r>
              <a:rPr lang="en-US" dirty="0" err="1"/>
              <a:t>diferencia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generalistas</a:t>
            </a:r>
            <a:r>
              <a:rPr lang="en-US" dirty="0"/>
              <a:t> o de mercado que </a:t>
            </a:r>
            <a:r>
              <a:rPr lang="en-US" dirty="0" err="1"/>
              <a:t>evaden</a:t>
            </a:r>
            <a:r>
              <a:rPr lang="en-US" dirty="0"/>
              <a:t> la </a:t>
            </a:r>
            <a:r>
              <a:rPr lang="en-US" dirty="0" err="1"/>
              <a:t>respuesta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Problema 1: el LLM no conoce el precio de hoy, así que alucina o se rinde. Problema 2 (el determinante): aunque tuviera los datos, evade la pregunta de inversión. Un analista humano con esos datos da su lectura: puede equivocarse, pero se compromete. La pregunta del trabajo es si un agente acotado puede hacer lo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s. La propuesta no reemplaza al analista experto: aporta la señal para decidir. Cuatro pasos: datos reales → clasificar y rutear → recomendar (comprar/vender/mantener a corto, mediano y largo plazo) → disclaimer honesto. La clave conceptual: un agente acotado con datos verificables opera bajo un contrato distinto al del asistente generalista.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s. Tres servicios desacoplados que hablan por HTTP/JSON. El gateway es el único punto de contacto con las APIs para los widgets síncronos; el servicio de agentes accede a esas mismas fuentes dentro del grafo cuando el análisis lo requiere. Como el único acoplamiento es el contrato HTTP, cada servicio se prueba y despliega solo (CI/CD con GitHub Actions + Railway).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El núcleo: un StateGraph de 13 nodos con estado compartido (ChatState). El intent_router clasifica en 7 intents razonando sobre la intención: la misma '¿cómo está el BTC?' puede ser price_only o analysis según el contexto. El data_validator es una compuerta dura: sin datos válidos no se sigue. Si todo valida, corre la cadena de cuatro especialistas + reviewer. Grounding estricto: ningún nodo afirma cifras que no haya recuperado de una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 — DIAPOSITIVA ESTRELLA, bajar el ritmo. Izquierda: el generalista evade y deriva. Derecha: el sistema lee los datos que acaba de recuperar y da veredicto por horizonte (vender corto/mediano, mantener largo) más análisis y disclaimer. Remarcar: la señal, aun imperfecta, vale más para el usuario que la no-respuesta. Acá es donde el sistema adopta el contrato distinto. Si hay tiempo / internet: mostrar la Figura 3 o demo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88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s. Algunos escenarios, indicando el nodo al que rutea cada consulta. Los dos destacados arriba son los modos activos: market_scout responde el panorama del día (subas y caídas) y advisor arma una cartera diversificada según el perfil de riesgo inferido (ej. US$10.000 → anclas/core/wide). El resto: price_only, la cadena de especialistas que termina en reviewer, intent_router resolviendo memoria, off_topic y no_symbol. En todos, el comportamiento coincidió con el ruteo esperado del grafo. Dato fino: separar off_topic de no_symbol fue determinante para que la memoria funcionara.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s. Cerrar con los tres ejes: grounding, intención-como-ruteo, y el compromiso de recomendar. Ser honesto con la limitación: las señales no fueron validadas retrospectivamente. Futuro: RAG sobre noticias, personalización, acceso headless con traza de auditoría y un set de evaluación contra el mercado real para cerrar el ciclo. Agradecer y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48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respaldo: solo si surgen preguntas sobre grounding, resolución de símbolos, memoria o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474720" cy="3474720"/>
          </a:xfrm>
          <a:prstGeom prst="ellipse">
            <a:avLst/>
          </a:prstGeom>
          <a:solidFill>
            <a:srgbClr val="60A5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05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DD4B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1247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78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· AGENTES INTELIGENTES Y LLM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multiagente LLM para el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contextual de criptoactivos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21208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intención</a:t>
            </a:r>
            <a:r>
              <a:rPr lang="en-US" sz="1600" b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ruteo entre agentes</a:t>
            </a:r>
            <a:r>
              <a:rPr lang="en-US" sz="1600" b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tiempo real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" y="3977640"/>
            <a:ext cx="2926080" cy="0"/>
          </a:xfrm>
          <a:prstGeom prst="line">
            <a:avLst/>
          </a:prstGeom>
          <a:noFill/>
          <a:ln w="12700">
            <a:solidFill>
              <a:srgbClr val="2A3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Patricio Pittavino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</a:t>
            </a:r>
            <a:r>
              <a:rPr lang="en-US" sz="1250" dirty="0" err="1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Luján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fallas de los LLM generalistas en cripto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16203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«¿Debería vender mis ETH ahora?»</a:t>
            </a:r>
            <a:r>
              <a:rPr lang="en-US" sz="12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una pregunta simple que el asistente generalista no responde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3950208" cy="2194560"/>
          </a:xfrm>
          <a:prstGeom prst="roundRect">
            <a:avLst>
              <a:gd name="adj" fmla="val 4167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27614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E2A1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06" y="2874142"/>
            <a:ext cx="286756" cy="2867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7614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desactualizados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8952" y="3429000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paramétrico no contiene precios actuales. Ante un precio, el modelo inventa cifras plausibles pero incorrectas, o reconoce su límite sin ofrecer alternativa.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90872" y="2542032"/>
            <a:ext cx="3950208" cy="2194560"/>
          </a:xfrm>
          <a:prstGeom prst="roundRect">
            <a:avLst>
              <a:gd name="adj" fmla="val 4167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46904" y="27614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E1A1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558" y="2874142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05272" y="27614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Evasión de la decisión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946904" y="3429000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una consulta de inversión responde con avisos legales y deriva a un asesor certificado. Técnicamente cauto, pero no ayuda a quien debe decidir hoy.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de dominio acotado que se compromete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derivar la decisión, recupera datos reales y emite una señal accionable —con un aviso de responsabilidad honesto, pero sin esquivar la pregunta.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542032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3200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 datos reales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0936" y="3730752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y CoinGecko en tiempo de inferencia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15184" y="228600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254203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24912" y="3200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 y rutea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743200" y="3730752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del usuario → subgrafo especialista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27448" y="228600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54203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37176" y="3200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Recomienda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55464" y="3730752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/ vender / mantener × 3 horizontes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39712" y="2286000"/>
            <a:ext cx="1975104" cy="2331720"/>
          </a:xfrm>
          <a:prstGeom prst="roundRect">
            <a:avLst>
              <a:gd name="adj" fmla="val 463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2542032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3200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honesto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967728" y="3730752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compromete sin renunciar al disclaimer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5728" y="3310128"/>
            <a:ext cx="201168" cy="201168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310128"/>
            <a:ext cx="201168" cy="201168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3310128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servicios independientes vía HTTP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95681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1755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2039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chat, widgets de mercado y OAuth con Google (Supabase)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98094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27797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+ TS · integra Binance / CoinGecko y actúa de proxy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005072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" y="3803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agentes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" y="4087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endpoint /run-agent que ejecuta el grafo LangGraph</a:t>
            </a:r>
            <a:endParaRPr lang="en-US" sz="1100" dirty="0"/>
          </a:p>
        </p:txBody>
      </p:sp>
      <p:pic>
        <p:nvPicPr>
          <p:cNvPr id="18" name="Image 0" descr="images/fig1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17320"/>
            <a:ext cx="4754880" cy="29900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977640" y="4526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— separación de responsabilidades: cada servicio evoluciona y se despliega por separado (único acoplamiento: el contrato HTTP/JSON).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MULTIAGENTE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grafo de estado de 13 nodos</a:t>
            </a:r>
            <a:endParaRPr lang="en-US" sz="2800" dirty="0"/>
          </a:p>
        </p:txBody>
      </p:sp>
      <p:pic>
        <p:nvPicPr>
          <p:cNvPr id="6" name="Image 0" descr="images/fig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02336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— StateGraph generado por LangGraph; aristas condicionales evaluadas en runtime.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1481328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04688" y="16093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intent_router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04688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en 7 intents por razonamiento, no por patrones de texto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09160" y="256032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163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04688" y="26883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data_validator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504688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compuerta: si los datos son inválidos, deriva a price_only (responde honesto)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3639312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95344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04688" y="3767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Cadena de especialistas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04688" y="4096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chart_analyst → finance_expert → crypto_expert → reviewer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 consulta, dos comportamientos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 «¿Debería vender mis ETH ahora?»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950208" cy="2788920"/>
          </a:xfrm>
          <a:prstGeom prst="roundRect">
            <a:avLst>
              <a:gd name="adj" fmla="val 3279"/>
            </a:avLst>
          </a:prstGeom>
          <a:solidFill>
            <a:srgbClr val="211824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483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20848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generalista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2633472"/>
            <a:ext cx="3456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puedo dar asesoramiento financiero personalizado. Las inversiones en cripto son altamente especulativas. Consultá a un asesor certificado…»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4365531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evade: no orienta la decisión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90872" y="1874520"/>
            <a:ext cx="3950208" cy="2788920"/>
          </a:xfrm>
          <a:prstGeom prst="roundRect">
            <a:avLst>
              <a:gd name="adj" fmla="val 3279"/>
            </a:avLst>
          </a:prstGeom>
          <a:solidFill>
            <a:srgbClr val="14241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08483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248" y="20848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(este trabajo)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37760" y="26060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  $1,615.29   </a:t>
            </a: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−2.96% (24h)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técnica bajista, cerca del mínimo semanal y sin señales de reversión.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937760" y="35204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E1726"/>
          </a:solidFill>
          <a:ln w="12700">
            <a:solidFill>
              <a:srgbClr val="2A3B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37760" y="36210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37760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153912" y="35204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E1726"/>
          </a:solidFill>
          <a:ln w="12700">
            <a:solidFill>
              <a:srgbClr val="2A3B5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53912" y="36210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153912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70064" y="35204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E1726"/>
          </a:solidFill>
          <a:ln w="12700">
            <a:solidFill>
              <a:srgbClr val="2A3B5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70064" y="36210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370064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93776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compromete con una señal accionable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474720" cy="3474720"/>
          </a:xfrm>
          <a:prstGeom prst="ellipse">
            <a:avLst/>
          </a:prstGeom>
          <a:solidFill>
            <a:srgbClr val="60A5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63720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DD4B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592" y="16550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783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5523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EVALUADOS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Algunos escenarios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733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mercado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61288" y="18562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market_scout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«¿cómo está hoy?»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481328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6733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de cartera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321808" y="18562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«¿qué hago con US$10k?»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28600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47802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61288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 simple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61288" y="26609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price_only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datos en tiempo real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228600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47802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21808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multinodo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321808" y="26609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cadena de 4 especialistas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2920" y="3090672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28269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61288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conversacional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61288" y="34655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intent_router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carryover del símbolo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663440" y="3090672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282696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21808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dominio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5321808" y="34655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off_topic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redirección amable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2674620" y="3913632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076" y="4105656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332988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 inexistente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3332988" y="4288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no_symbol</a:t>
            </a:r>
            <a:r>
              <a:rPr lang="en-US" sz="10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respuesta honesta, sin cifras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474720" cy="3474720"/>
          </a:xfrm>
          <a:prstGeom prst="ellipse">
            <a:avLst/>
          </a:prstGeom>
          <a:solidFill>
            <a:srgbClr val="60A5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contribuciones y un camino por delante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8366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755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sistemático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98448" y="20848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nodo afirma datos sin recuperarlos; data_validator detiene el pipeline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706624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6265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8346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Intención como ruteo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98448" y="31638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permite especializar cada nodo en una tarea precisa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785616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4164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9136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Comprometerse, no evadir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98448" y="4242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dominio acotado con datos verificables adopta otro contrato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28032" y="1627632"/>
            <a:ext cx="3813048" cy="1417320"/>
          </a:xfrm>
          <a:prstGeom prst="roundRect">
            <a:avLst>
              <a:gd name="adj" fmla="val 6452"/>
            </a:avLst>
          </a:prstGeom>
          <a:solidFill>
            <a:srgbClr val="16203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105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1819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Limitación clave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29200" y="22128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recomendaciones no se validaron retrospectivamente contra el mercado: son señales razonadas, no evaluadas.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828032" y="3154680"/>
            <a:ext cx="3813048" cy="1417320"/>
          </a:xfrm>
          <a:prstGeom prst="roundRect">
            <a:avLst>
              <a:gd name="adj" fmla="val 6452"/>
            </a:avLst>
          </a:prstGeom>
          <a:solidFill>
            <a:srgbClr val="16203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3375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22976" y="3346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Líneas futuras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29200" y="373989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noticias · personalización por historial · acceso headless con auditoría · evaluación contra el mercado real.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474720" cy="3474720"/>
          </a:xfrm>
          <a:prstGeom prst="ellipse">
            <a:avLst/>
          </a:prstGeom>
          <a:solidFill>
            <a:srgbClr val="60A5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63720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DD4B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592" y="16550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783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 Gracias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2212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· Q&amp;A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para preguntas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81051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55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estricto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1396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nodo que afirma algo del mercado lo hace con datos de la misma invocación; nunca con conocimiento paramétrico.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57276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81051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755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coin_info: match exacto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46320" y="21396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coincidencia exacta del símbolo en CoinGecko; evita confundir activos (buscar 'RE' devolvería ETH por ranking).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03580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273552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2186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conversacional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36027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envía un resumen de hasta 10 turnos; el router resuelve referencias implícitas y persiste por usuario en Supabase.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0" y="303580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741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273552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2186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846320" y="36027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por servicio · GitHub Actions como compuerta de tipos/build · Railway reconstruye y publica sin pasos manuales.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1401</Words>
  <Application>Microsoft Office PowerPoint</Application>
  <PresentationFormat>On-screen Show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multiagente LLM para análisis de criptoactivos</dc:title>
  <dc:subject>PptxGenJS Presentation</dc:subject>
  <dc:creator>Patricio Pittavino</dc:creator>
  <cp:lastModifiedBy>Patricio Pittavino</cp:lastModifiedBy>
  <cp:revision>5</cp:revision>
  <dcterms:created xsi:type="dcterms:W3CDTF">2026-06-25T12:14:18Z</dcterms:created>
  <dcterms:modified xsi:type="dcterms:W3CDTF">2026-06-25T23:59:48Z</dcterms:modified>
</cp:coreProperties>
</file>